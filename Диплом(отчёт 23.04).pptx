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2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4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199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399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199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399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sz="3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Диплом синк 23.04</a:t>
            </a:r>
            <a:endParaRPr sz="3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buNone/>
              <a:defRPr/>
            </a:pPr>
            <a:endParaRPr sz="24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0953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Постановка задачи</a:t>
            </a:r>
            <a:endParaRPr/>
          </a:p>
        </p:txBody>
      </p:sp>
      <p:sp>
        <p:nvSpPr>
          <p:cNvPr id="17293998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Вход:</a:t>
            </a:r>
            <a:endParaRPr/>
          </a:p>
          <a:p>
            <a:pPr lvl="1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[theta,  phi,  power,  |E_theta|,  arg(E_theta),  |E_phi|,  arg(E_phi)]</a:t>
            </a:r>
            <a:endParaRPr/>
          </a:p>
          <a:p>
            <a:pPr lvl="1">
              <a:defRPr/>
            </a:pPr>
            <a:r>
              <a:rPr/>
              <a:t>(360, 179, 7) – размерность одного наблюдения</a:t>
            </a:r>
            <a:endParaRPr/>
          </a:p>
          <a:p>
            <a:pPr lvl="0">
              <a:defRPr/>
            </a:pPr>
            <a:r>
              <a:rPr/>
              <a:t>Выход:</a:t>
            </a:r>
            <a:endParaRPr/>
          </a:p>
          <a:p>
            <a:pPr lvl="1">
              <a:defRPr/>
            </a:pPr>
            <a:r>
              <a:rPr/>
              <a:t>[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Re(a_E), Im(a_E), Re(a_M), Im(a_M)</a:t>
            </a:r>
            <a:r>
              <a:rPr/>
              <a:t>]</a:t>
            </a:r>
            <a:endParaRPr/>
          </a:p>
          <a:p>
            <a:pPr lvl="1">
              <a:defRPr/>
            </a:pPr>
            <a:r>
              <a:rPr/>
              <a:t>(4 * maxorder * (maxorder + 2))</a:t>
            </a:r>
            <a:endParaRPr/>
          </a:p>
          <a:p>
            <a:pPr lvl="0">
              <a:defRPr/>
            </a:pPr>
            <a:r>
              <a:rPr/>
              <a:t>Почему решаем ML’ем, а не аналитически:</a:t>
            </a:r>
            <a:endParaRPr/>
          </a:p>
          <a:p>
            <a:pPr lvl="1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 -&gt; (a_E, a_M) не единственно, поэтому пробуем учить модель предсказывать какие-то коэффициенты, которые достаточно хорошо приблизят P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 ходе преобразований (a_E, a_M) -&gt; P теряем информацию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377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Метрики</a:t>
            </a:r>
            <a:endParaRPr/>
          </a:p>
        </p:txBody>
      </p:sp>
      <p:sp>
        <p:nvSpPr>
          <p:cNvPr id="5618394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Над P:</a:t>
            </a:r>
            <a:endParaRPr/>
          </a:p>
          <a:p>
            <a:pPr lvl="1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weighted_mse</a:t>
            </a:r>
            <a:r>
              <a:rPr/>
              <a:t> – mse, посчитанное по разницам P, взвешенное на sin(theta)</a:t>
            </a:r>
            <a:endParaRPr/>
          </a:p>
          <a:p>
            <a:pPr lvl="1">
              <a:defRPr/>
            </a:pPr>
            <a:r>
              <a:rPr/>
              <a:t>r^2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m:rPr/>
                                <a:rPr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SS</m:t>
                              </m:r>
                            </m:e>
                            <m:sub>
                              <m:r>
                                <m:rPr/>
                                <a:rPr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res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m:rPr/>
                                <a:rPr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SS</m:t>
                              </m:r>
                            </m:e>
                            <m:sub>
                              <m:r>
                                <m:rPr/>
                                <a:rPr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tot</m:t>
                              </m:r>
                            </m:sub>
                          </m:sSub>
                        </m:den>
                      </m:f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</m:oMath>
                  </m:oMathPara>
                </a14:m>
              </mc:Choice>
              <mc:Fallback/>
            </mc:AlternateContent>
            <a:r>
              <a:rPr/>
              <a:t>, SS_res – mse нашего предсказания, SS_tot – mse предсказания простого среднего</a:t>
            </a:r>
            <a:endParaRPr/>
          </a:p>
          <a:p>
            <a:pPr lvl="1">
              <a:defRPr/>
            </a:pPr>
            <a:r>
              <a:rPr/>
              <a:t>shape loss – отнормировали вход и выход P на одинаковое среднее и считаем weighted_mse</a:t>
            </a:r>
            <a:endParaRPr/>
          </a:p>
          <a:p>
            <a:pPr lvl="1">
              <a:defRPr/>
            </a:pPr>
            <a:r>
              <a:rPr/>
              <a:t>scale_loss - (weighted_mean(P_pred)/weighted_mean(P_true) - 1)</a:t>
            </a:r>
            <a:endParaRPr/>
          </a:p>
          <a:p>
            <a:pPr>
              <a:defRPr/>
            </a:pPr>
            <a:r>
              <a:rPr/>
              <a:t>Над a_E, a_M:</a:t>
            </a:r>
            <a:endParaRPr/>
          </a:p>
          <a:p>
            <a:pPr lvl="1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mse по коэффициентам</a:t>
            </a:r>
            <a:endParaRPr lang="ru-RU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r>
              <a:rPr lang="ru-RU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Все эти метрики считаем на каждом из датасетов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1575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Датасеты</a:t>
            </a:r>
            <a:endParaRPr/>
          </a:p>
        </p:txBody>
      </p:sp>
      <p:sp>
        <p:nvSpPr>
          <p:cNvPr id="133929563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holdout – твои из папки E+multip</a:t>
            </a:r>
            <a:endParaRPr/>
          </a:p>
          <a:p>
            <a:pPr>
              <a:defRPr/>
            </a:pPr>
            <a:r>
              <a:rPr/>
              <a:t>rotation – твои из папки rotation</a:t>
            </a:r>
            <a:endParaRPr/>
          </a:p>
          <a:p>
            <a:pPr>
              <a:defRPr/>
            </a:pPr>
            <a:r>
              <a:rPr/>
              <a:t>train/val/test – синтетически генерим датасет одним(или миксуя сразу несколько) из следующих способов:</a:t>
            </a:r>
            <a:endParaRPr/>
          </a:p>
          <a:p>
            <a:pPr lvl="1">
              <a:defRPr/>
            </a:pPr>
            <a:r>
              <a:rPr/>
              <a:t>fixed – твоя идея с латинским квадратом</a:t>
            </a:r>
            <a:endParaRPr/>
          </a:p>
          <a:p>
            <a:pPr lvl="1">
              <a:defRPr/>
            </a:pPr>
            <a:r>
              <a:rPr/>
              <a:t>uniform – каждый коэфф из U[-scale; +scale]</a:t>
            </a:r>
            <a:endParaRPr/>
          </a:p>
          <a:p>
            <a:pPr lvl="1">
              <a:defRPr/>
            </a:pPr>
            <a:r>
              <a:rPr/>
              <a:t>gaussian – каждый коэфф из Gauss(0, scale)</a:t>
            </a:r>
            <a:endParaRPr/>
          </a:p>
          <a:p>
            <a:pPr lvl="0">
              <a:defRPr/>
            </a:pPr>
            <a:r>
              <a:rPr/>
              <a:t>Аугментации(на синту навешиваем):</a:t>
            </a:r>
            <a:endParaRPr/>
          </a:p>
          <a:p>
            <a:pPr lvl="1">
              <a:defRPr/>
            </a:pPr>
            <a:r>
              <a:rPr/>
              <a:t>Log-uniform scale(чтобы коэффициенты были более разбросаны)</a:t>
            </a:r>
            <a:endParaRPr/>
          </a:p>
          <a:p>
            <a:pPr lvl="1">
              <a:defRPr/>
            </a:pPr>
            <a:r>
              <a:rPr/>
              <a:t>Независимые E/M scale</a:t>
            </a:r>
            <a:endParaRPr/>
          </a:p>
          <a:p>
            <a:pPr lvl="1">
              <a:defRPr/>
            </a:pPr>
            <a:r>
              <a:rPr/>
              <a:t>dropout на моды: с шансом p зануляем моду в уже сгенеренных данных</a:t>
            </a:r>
            <a:endParaRPr/>
          </a:p>
          <a:p>
            <a:pPr lvl="1">
              <a:defRPr/>
            </a:pPr>
            <a:r>
              <a:rPr/>
              <a:t>Миксуем fixed, uniform, gaussian генерации</a:t>
            </a:r>
            <a:endParaRPr/>
          </a:p>
          <a:p>
            <a:pPr lvl="1">
              <a:defRPr/>
            </a:pPr>
            <a:endParaRPr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8814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Фичи</a:t>
            </a:r>
            <a:endParaRPr/>
          </a:p>
        </p:txBody>
      </p:sp>
      <p:sp>
        <p:nvSpPr>
          <p:cNvPr id="188666953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PCA - уменьшаем размерность всего входа через SVD</a:t>
            </a:r>
            <a:endParaRPr/>
          </a:p>
          <a:p>
            <a:pPr>
              <a:defRPr/>
            </a:pPr>
            <a:r>
              <a:rPr/>
              <a:t>Hog – воспринимаем P(E_phi, E_theta) как изображение, группируем по пикселям(8x8), считаем градиенты между группами, аггрегируем и применяем pca для получения небольшого кол-ва фичей</a:t>
            </a:r>
            <a:endParaRPr/>
          </a:p>
          <a:p>
            <a:pPr>
              <a:defRPr/>
            </a:pPr>
            <a:r>
              <a:rPr/>
              <a:t>sh_power – сферические гармоники по P(E_phi, E_theta) до k-го порядка</a:t>
            </a:r>
            <a:endParaRPr/>
          </a:p>
          <a:p>
            <a:pPr>
              <a:defRPr/>
            </a:pPr>
            <a:r>
              <a:rPr/>
              <a:t>fft_radial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6359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Архитектура</a:t>
            </a:r>
            <a:endParaRPr/>
          </a:p>
        </p:txBody>
      </p:sp>
      <p:sp>
        <p:nvSpPr>
          <p:cNvPr id="9695870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5"/>
            <a:ext cx="10611824" cy="4351338"/>
          </a:xfrm>
        </p:spPr>
        <p:txBody>
          <a:bodyPr/>
          <a:lstStyle/>
          <a:p>
            <a:pPr>
              <a:defRPr/>
            </a:pPr>
            <a:r>
              <a:rPr/>
              <a:t>Вместо предсказания сразу всех коэффициентов, учимся предсказывать max_order=1, потом max_order=2, и тд до размерности данных</a:t>
            </a:r>
            <a:endParaRPr/>
          </a:p>
          <a:p>
            <a:pPr>
              <a:defRPr/>
            </a:pPr>
            <a:r>
              <a:rPr/>
              <a:t>Бейзлайн – перцептрон 2 x 512, при правильных фичах(суммарной размерности до ~150) </a:t>
            </a:r>
            <a:r>
              <a:rPr/>
              <a:t>его должно хватать </a:t>
            </a:r>
            <a:endParaRPr/>
          </a:p>
          <a:p>
            <a:pPr>
              <a:defRPr/>
            </a:pPr>
            <a:r>
              <a:rPr/>
              <a:t>Замеры проводил на 30 эпохах обучения, перебирая используемые фичи, размер датасета и гиперпараметры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349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Инфра</a:t>
            </a:r>
            <a:endParaRPr/>
          </a:p>
        </p:txBody>
      </p:sp>
      <p:sp>
        <p:nvSpPr>
          <p:cNvPr id="1322855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MLFlow как фреймворк для трека обучения и валидации</a:t>
            </a:r>
            <a:endParaRPr/>
          </a:p>
          <a:p>
            <a:pPr>
              <a:defRPr/>
            </a:pPr>
            <a:r>
              <a:rPr/>
              <a:t>Можем применить модельку к данным, сгенерить графики и 3d поле(как было у тебя)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Ivan Mordvintsev</cp:lastModifiedBy>
  <cp:revision>5</cp:revision>
  <dcterms:created xsi:type="dcterms:W3CDTF">2023-08-25T13:22:51Z</dcterms:created>
  <dcterms:modified xsi:type="dcterms:W3CDTF">2026-05-13T11:45:07Z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